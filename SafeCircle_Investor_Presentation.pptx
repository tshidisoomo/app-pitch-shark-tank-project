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1430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Aptos"/>
              </a:rPr>
              <a:t>SafeCircle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48840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7DDCBC"/>
                </a:solidFill>
                <a:latin typeface="Aptos"/>
              </a:rPr>
              <a:t>One community. One circle. Safer together.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154680"/>
            <a:ext cx="8503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Aptos"/>
              </a:rPr>
              <a:t>A community safety platform connecting emergency help, trusted people, journeys and local safety information.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5074920"/>
            <a:ext cx="6309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B8C7D6"/>
                </a:solidFill>
                <a:latin typeface="Aptos"/>
              </a:rPr>
              <a:t>INVESTOR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27D98"/>
                </a:solidFill>
                <a:latin typeface="Aptos"/>
              </a:rPr>
              <a:t>SafeCircle  •  One community. One circle. Safer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27D98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102A43"/>
                </a:solidFill>
                <a:latin typeface="Apto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tos"/>
              </a:rPr>
              <a:t>In an emergency, every second matters.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00200"/>
            <a:ext cx="5257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764792"/>
            <a:ext cx="48554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87F5B"/>
                </a:solidFill>
                <a:latin typeface="Aptos"/>
              </a:rPr>
              <a:t>Disconnected help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258568"/>
            <a:ext cx="4855464" cy="9784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Aptos"/>
              </a:rPr>
              <a:t>People may need to search for numbers, contact several people, and explain where they 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257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764792"/>
            <a:ext cx="48554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87F5B"/>
                </a:solidFill>
                <a:latin typeface="Aptos"/>
              </a:rPr>
              <a:t>Personal vulnerability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258568"/>
            <a:ext cx="4855464" cy="9784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Aptos"/>
              </a:rPr>
              <a:t>Walking alone, medical emergencies, accidents and family safety situations can happen at any 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749039"/>
            <a:ext cx="5257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3913631"/>
            <a:ext cx="48554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87F5B"/>
                </a:solidFill>
                <a:latin typeface="Aptos"/>
              </a:rPr>
              <a:t>Community information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4407407"/>
            <a:ext cx="4855464" cy="9784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Aptos"/>
              </a:rPr>
              <a:t>Safety warnings can be fragmented across different channels and difficult to act on quickly.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749039"/>
            <a:ext cx="5257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3913631"/>
            <a:ext cx="48554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87F5B"/>
                </a:solidFill>
                <a:latin typeface="Aptos"/>
              </a:rPr>
              <a:t>Stress makes complexity worse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4407407"/>
            <a:ext cx="4855464" cy="9784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Aptos"/>
              </a:rPr>
              <a:t>A safety product must be simple enough to use when someone is frightened or under pressure.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27D98"/>
                </a:solidFill>
                <a:latin typeface="Aptos"/>
              </a:rPr>
              <a:t>SafeCircle  •  One community. One circle. Safer together.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27D9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102A43"/>
                </a:solidFill>
                <a:latin typeface="Aptos"/>
              </a:rP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tos"/>
              </a:rPr>
              <a:t>One simple safety layer for individuals, families and communities.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87F5B"/>
                </a:solidFill>
                <a:latin typeface="Aptos"/>
              </a:rPr>
              <a:t>SAFECIRCLE CONNECTS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2423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06624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02A43"/>
                </a:solidFill>
                <a:latin typeface="Aptos"/>
              </a:rPr>
              <a:t>Emergency SOS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2468880"/>
            <a:ext cx="2423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706624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02A43"/>
                </a:solidFill>
                <a:latin typeface="Aptos"/>
              </a:rPr>
              <a:t>Trusted Circle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468880"/>
            <a:ext cx="2423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706624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02A43"/>
                </a:solidFill>
                <a:latin typeface="Aptos"/>
              </a:rPr>
              <a:t>Location Sharing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2468880"/>
            <a:ext cx="2423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0" y="2706624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02A43"/>
                </a:solidFill>
                <a:latin typeface="Aptos"/>
              </a:rPr>
              <a:t>Safe Journey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2423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32504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02A43"/>
                </a:solidFill>
                <a:latin typeface="Aptos"/>
              </a:rPr>
              <a:t>Community Alerts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3794760"/>
            <a:ext cx="2423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4032504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02A43"/>
                </a:solidFill>
                <a:latin typeface="Aptos"/>
              </a:rPr>
              <a:t>Emergency Access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794760"/>
            <a:ext cx="2423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032504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02A43"/>
                </a:solidFill>
                <a:latin typeface="Aptos"/>
              </a:rPr>
              <a:t>Privacy Controls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257800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02A43"/>
                </a:solidFill>
                <a:latin typeface="Aptos"/>
              </a:rPr>
              <a:t>The goal: reduce the number of steps between a person experiencing danger and the people who can help.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27D98"/>
                </a:solidFill>
                <a:latin typeface="Aptos"/>
              </a:rPr>
              <a:t>SafeCircle  •  One community. One circle. Safer together.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27D9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102A43"/>
                </a:solidFill>
                <a:latin typeface="Aptos"/>
              </a:rPr>
              <a:t>Target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tos"/>
              </a:rPr>
              <a:t>Designed for the wider community, not one age group.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0020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764792"/>
            <a:ext cx="21122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87F5B"/>
                </a:solidFill>
                <a:latin typeface="Aptos"/>
              </a:rPr>
              <a:t>👶  Children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258568"/>
            <a:ext cx="2112264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Aptos"/>
              </a:rPr>
              <a:t>Simple safety tools, trusted connections and clearer access to help.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0712" y="160020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764792"/>
            <a:ext cx="21122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87F5B"/>
                </a:solidFill>
                <a:latin typeface="Aptos"/>
              </a:rPr>
              <a:t>🎓  Students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258568"/>
            <a:ext cx="2112264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Aptos"/>
              </a:rPr>
              <a:t>Simple safety tools, trusted connections and clearer access to help.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160020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764792"/>
            <a:ext cx="21122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87F5B"/>
                </a:solidFill>
                <a:latin typeface="Aptos"/>
              </a:rPr>
              <a:t>💼  Working adults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258568"/>
            <a:ext cx="2112264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Aptos"/>
              </a:rPr>
              <a:t>Simple safety tools, trusted connections and clearer access to help.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3416" y="160020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44584" y="1764792"/>
            <a:ext cx="21122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87F5B"/>
                </a:solidFill>
                <a:latin typeface="Aptos"/>
              </a:rPr>
              <a:t>👨‍👩‍👧  Families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4584" y="2258568"/>
            <a:ext cx="2112264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Aptos"/>
              </a:rPr>
              <a:t>Simple safety tools, trusted connections and clearer access to help.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47472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3639312"/>
            <a:ext cx="21122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87F5B"/>
                </a:solidFill>
                <a:latin typeface="Aptos"/>
              </a:rPr>
              <a:t>👵  Elderly people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4133087"/>
            <a:ext cx="2112264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Aptos"/>
              </a:rPr>
              <a:t>Simple safety tools, trusted connections and clearer access to help.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10712" y="347472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3639312"/>
            <a:ext cx="21122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87F5B"/>
                </a:solidFill>
                <a:latin typeface="Aptos"/>
              </a:rPr>
              <a:t>♿  People needing additional assistance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4133087"/>
            <a:ext cx="2112264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Aptos"/>
              </a:rPr>
              <a:t>Simple safety tools, trusted connections and clearer access to help.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27064" y="347472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3639312"/>
            <a:ext cx="21122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87F5B"/>
                </a:solidFill>
                <a:latin typeface="Aptos"/>
              </a:rPr>
              <a:t>🏘️  Communities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4133087"/>
            <a:ext cx="2112264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Aptos"/>
              </a:rPr>
              <a:t>Simple safety tools, trusted connections and clearer access to help.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43416" y="347472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44584" y="3639312"/>
            <a:ext cx="21122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87F5B"/>
                </a:solidFill>
                <a:latin typeface="Aptos"/>
              </a:rPr>
              <a:t>🤝  Safety-focused organisations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4133087"/>
            <a:ext cx="2112264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Aptos"/>
              </a:rPr>
              <a:t>Simple safety tools, trusted connections and clearer access to help.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27D98"/>
                </a:solidFill>
                <a:latin typeface="Aptos"/>
              </a:rPr>
              <a:t>SafeCircle  •  One community. One circle. Safer together.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27D9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102A43"/>
                </a:solidFill>
                <a:latin typeface="Aptos"/>
              </a:rP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tos"/>
              </a:rPr>
              <a:t>Core workflows designed around speed, connection and accessibility.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673351"/>
            <a:ext cx="30266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87F5B"/>
                </a:solidFill>
                <a:latin typeface="Aptos"/>
              </a:rPr>
              <a:t>🚨 Emergency 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167128"/>
            <a:ext cx="3026664" cy="1161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Aptos"/>
              </a:rPr>
              <a:t>Large emergency control, cancellation countdown and emergency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0288" y="1673351"/>
            <a:ext cx="30266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87F5B"/>
                </a:solidFill>
                <a:latin typeface="Aptos"/>
              </a:rPr>
              <a:t>👥 Trusted Circle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2167128"/>
            <a:ext cx="3026664" cy="1161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Aptos"/>
              </a:rPr>
              <a:t>Family, friends, neighbours, caregivers and other selected contacts.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50876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5048" y="1673351"/>
            <a:ext cx="30266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87F5B"/>
                </a:solidFill>
                <a:latin typeface="Aptos"/>
              </a:rPr>
              <a:t>📍 Location Sharing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048" y="2167128"/>
            <a:ext cx="3026664" cy="1161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Aptos"/>
              </a:rPr>
              <a:t>Share location when assistance is requested, subject to device permissions.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840479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4005071"/>
            <a:ext cx="30266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87F5B"/>
                </a:solidFill>
                <a:latin typeface="Aptos"/>
              </a:rPr>
              <a:t>🚶 Safe Journey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4498847"/>
            <a:ext cx="3026664" cy="1161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Aptos"/>
              </a:rPr>
              <a:t>Destination + expected arrival + safety check-in.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840479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0288" y="4005071"/>
            <a:ext cx="30266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87F5B"/>
                </a:solidFill>
                <a:latin typeface="Aptos"/>
              </a:rPr>
              <a:t>⚠️ Community Alerts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4498847"/>
            <a:ext cx="3026664" cy="1161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Aptos"/>
              </a:rPr>
              <a:t>Safety notices and hazards with a future verification/moderation layer.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3840479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8" y="4005071"/>
            <a:ext cx="30266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87F5B"/>
                </a:solidFill>
                <a:latin typeface="Aptos"/>
              </a:rPr>
              <a:t>☎️ Emergency Numbers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4498847"/>
            <a:ext cx="3026664" cy="1161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Aptos"/>
              </a:rPr>
              <a:t>Fast access to configured emergency-service call options.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27D98"/>
                </a:solidFill>
                <a:latin typeface="Aptos"/>
              </a:rPr>
              <a:t>SafeCircle  •  One community. One circle. Safer together.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27D9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102A43"/>
                </a:solidFill>
                <a:latin typeface="Aptos"/>
              </a:rPr>
              <a:t>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tos"/>
              </a:rPr>
              <a:t>A clear journey from normal use to emergency action.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28800"/>
            <a:ext cx="914400" cy="914400"/>
          </a:xfrm>
          <a:prstGeom prst="ellipse">
            <a:avLst/>
          </a:prstGeom>
          <a:solidFill>
            <a:srgbClr val="087F5B"/>
          </a:solidFill>
          <a:ln>
            <a:solidFill>
              <a:srgbClr val="087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7568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599" y="3017520"/>
            <a:ext cx="1737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02A43"/>
                </a:solidFill>
                <a:latin typeface="Aptos"/>
              </a:rPr>
              <a:t>Open SafeCircle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205740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627D98"/>
                </a:solidFill>
                <a:latin typeface="Aptos"/>
              </a:rPr>
              <a:t>→</a:t>
            </a:r>
          </a:p>
        </p:txBody>
      </p:sp>
      <p:sp>
        <p:nvSpPr>
          <p:cNvPr id="8" name="Oval 7"/>
          <p:cNvSpPr/>
          <p:nvPr/>
        </p:nvSpPr>
        <p:spPr>
          <a:xfrm>
            <a:off x="2907791" y="1828800"/>
            <a:ext cx="914400" cy="914400"/>
          </a:xfrm>
          <a:prstGeom prst="ellipse">
            <a:avLst/>
          </a:prstGeom>
          <a:solidFill>
            <a:srgbClr val="087F5B"/>
          </a:solidFill>
          <a:ln>
            <a:solidFill>
              <a:srgbClr val="087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07791" y="207568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96311" y="3017520"/>
            <a:ext cx="1737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02A43"/>
                </a:solidFill>
                <a:latin typeface="Aptos"/>
              </a:rPr>
              <a:t>Choose Emergency / Journey / Circle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79" y="205740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627D98"/>
                </a:solidFill>
                <a:latin typeface="Aptos"/>
              </a:rP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5175504" y="1828800"/>
            <a:ext cx="914400" cy="914400"/>
          </a:xfrm>
          <a:prstGeom prst="ellipse">
            <a:avLst/>
          </a:prstGeom>
          <a:solidFill>
            <a:srgbClr val="087F5B"/>
          </a:solidFill>
          <a:ln>
            <a:solidFill>
              <a:srgbClr val="087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75504" y="207568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4024" y="3017520"/>
            <a:ext cx="1737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02A43"/>
                </a:solidFill>
                <a:latin typeface="Aptos"/>
              </a:rPr>
              <a:t>Activate the relevant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8192" y="205740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627D98"/>
                </a:solidFill>
                <a:latin typeface="Aptos"/>
              </a:rP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7443215" y="1828800"/>
            <a:ext cx="914400" cy="914400"/>
          </a:xfrm>
          <a:prstGeom prst="ellipse">
            <a:avLst/>
          </a:prstGeom>
          <a:solidFill>
            <a:srgbClr val="087F5B"/>
          </a:solidFill>
          <a:ln>
            <a:solidFill>
              <a:srgbClr val="087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07568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31735" y="3017520"/>
            <a:ext cx="1737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02A43"/>
                </a:solidFill>
                <a:latin typeface="Aptos"/>
              </a:rPr>
              <a:t>Connect with trusted people or emergency options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3" y="205740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627D98"/>
                </a:solidFill>
                <a:latin typeface="Aptos"/>
              </a:rP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9710928" y="1828800"/>
            <a:ext cx="914400" cy="914400"/>
          </a:xfrm>
          <a:prstGeom prst="ellipse">
            <a:avLst/>
          </a:prstGeom>
          <a:solidFill>
            <a:srgbClr val="087F5B"/>
          </a:solidFill>
          <a:ln>
            <a:solidFill>
              <a:srgbClr val="087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10928" y="207568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3017520"/>
            <a:ext cx="1737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02A43"/>
                </a:solidFill>
                <a:latin typeface="Aptos"/>
              </a:rPr>
              <a:t>Check in / resolve / return to safe 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89204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102A43"/>
                </a:solidFill>
                <a:latin typeface="Aptos"/>
              </a:rPr>
              <a:t>Emergency design principle: fewer steps, clearer labels, large controls and explicit privacy/permission choices.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27D98"/>
                </a:solidFill>
                <a:latin typeface="Aptos"/>
              </a:rPr>
              <a:t>SafeCircle  •  One community. One circle. Safer together.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27D9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102A43"/>
                </a:solidFill>
                <a:latin typeface="Aptos"/>
              </a:rPr>
              <a:t>Value Creation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tos"/>
              </a:rPr>
              <a:t>Value for users today, with scalable opportunities for organisations.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34290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673351"/>
            <a:ext cx="30266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87F5B"/>
                </a:solidFill>
                <a:latin typeface="Aptos"/>
              </a:rPr>
              <a:t>For people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167128"/>
            <a:ext cx="3026664" cy="2624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Aptos"/>
              </a:rPr>
              <a:t>• Faster access to trusted contacts</a:t>
            </a:r>
            <a:br/>
            <a:r>
              <a:t>• Simple emergency workflows</a:t>
            </a:r>
            <a:br/>
            <a:r>
              <a:t>• Journey check-ins</a:t>
            </a:r>
            <a:br/>
            <a:r>
              <a:t>• Location sharing when requested</a:t>
            </a:r>
            <a:br/>
            <a:r>
              <a:t>• Community safety information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508760"/>
            <a:ext cx="34290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73351"/>
            <a:ext cx="30266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87F5B"/>
                </a:solidFill>
                <a:latin typeface="Aptos"/>
              </a:rPr>
              <a:t>For communities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67128"/>
            <a:ext cx="3026664" cy="2624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Aptos"/>
              </a:rPr>
              <a:t>• Connected safety communication</a:t>
            </a:r>
            <a:br/>
            <a:r>
              <a:t>• Shared awareness of hazards</a:t>
            </a:r>
            <a:br/>
            <a:r>
              <a:t>• Potential community partnerships</a:t>
            </a:r>
            <a:br/>
            <a:r>
              <a:t>• Moderated local reporting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3" y="1508760"/>
            <a:ext cx="34290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673351"/>
            <a:ext cx="30266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87F5B"/>
                </a:solidFill>
                <a:latin typeface="Aptos"/>
              </a:rPr>
              <a:t>For organisations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167128"/>
            <a:ext cx="3026664" cy="2624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Aptos"/>
              </a:rPr>
              <a:t>• Managed safety circles</a:t>
            </a:r>
            <a:br/>
            <a:r>
              <a:t>• Administration dashboards</a:t>
            </a:r>
            <a:br/>
            <a:r>
              <a:t>• Subscription services</a:t>
            </a:r>
            <a:br/>
            <a:r>
              <a:t>• Partnership integrations</a:t>
            </a:r>
            <a:br/>
            <a:r>
              <a:t>• Premium safety capabilities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27D98"/>
                </a:solidFill>
                <a:latin typeface="Aptos"/>
              </a:rPr>
              <a:t>SafeCircle  •  One community. One circle. Safer together.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27D98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102A43"/>
                </a:solidFill>
                <a:latin typeface="Aptos"/>
              </a:rPr>
              <a:t>Business Model &amp;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tos"/>
              </a:rPr>
              <a:t>A platform model that can expand as trust, adoption and partnerships grow.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719072"/>
            <a:ext cx="48554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87F5B"/>
                </a:solidFill>
                <a:latin typeface="Aptos"/>
              </a:rPr>
              <a:t>Organisation subscriptions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212848"/>
            <a:ext cx="4855464" cy="10698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Aptos"/>
              </a:rPr>
              <a:t>Safety tools, managed circles and administrative features for eligible organisations.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5448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4808" y="1719072"/>
            <a:ext cx="48554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87F5B"/>
                </a:solidFill>
                <a:latin typeface="Aptos"/>
              </a:rPr>
              <a:t>Premium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4808" y="2212848"/>
            <a:ext cx="4855464" cy="10698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Aptos"/>
              </a:rPr>
              <a:t>Optional enhanced safety and journey capabilities for users.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959352"/>
            <a:ext cx="48554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87F5B"/>
                </a:solidFill>
                <a:latin typeface="Aptos"/>
              </a:rPr>
              <a:t>Strategic partnerships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4453128"/>
            <a:ext cx="4855464" cy="10698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Aptos"/>
              </a:rPr>
              <a:t>Potential partnerships with communities, care organisations, schools, businesses and safety providers.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79476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3959352"/>
            <a:ext cx="48554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87F5B"/>
                </a:solidFill>
                <a:latin typeface="Aptos"/>
              </a:rPr>
              <a:t>Platform expansion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4453128"/>
            <a:ext cx="4855464" cy="10698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Aptos"/>
              </a:rPr>
              <a:t>Future secure push/SMS escalation, multilingual support, verification, analytics and integrations.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27D98"/>
                </a:solidFill>
                <a:latin typeface="Aptos"/>
              </a:rPr>
              <a:t>SafeCircle  •  One community. One circle. Safer together.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27D98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102A43"/>
                </a:solidFill>
                <a:latin typeface="Aptos"/>
              </a:rPr>
              <a:t>Why SafeCircle?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tos"/>
              </a:rPr>
              <a:t>The differentiation is in the connected experience.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744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581912"/>
            <a:ext cx="103418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87F5B"/>
                </a:solidFill>
                <a:latin typeface="Aptos"/>
              </a:rPr>
              <a:t>Single safety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75688"/>
            <a:ext cx="10341864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Aptos"/>
              </a:rPr>
              <a:t>Combines personal emergency tools, trusted contacts, journeys and community information.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744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724912"/>
            <a:ext cx="103418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87F5B"/>
                </a:solidFill>
                <a:latin typeface="Aptos"/>
              </a:rPr>
              <a:t>Community + personal safety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218687"/>
            <a:ext cx="10341864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Aptos"/>
              </a:rPr>
              <a:t>Designed to support both individual needs and community-level awareness.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03320"/>
            <a:ext cx="10744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867911"/>
            <a:ext cx="103418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87F5B"/>
                </a:solidFill>
                <a:latin typeface="Aptos"/>
              </a:rPr>
              <a:t>Accessible by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361688"/>
            <a:ext cx="10341864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Aptos"/>
              </a:rPr>
              <a:t>Large actions, simple language, clear navigation and privacy controls.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46320"/>
            <a:ext cx="10744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5010912"/>
            <a:ext cx="103418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87F5B"/>
                </a:solidFill>
                <a:latin typeface="Aptos"/>
              </a:rPr>
              <a:t>Built for expansion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5504688"/>
            <a:ext cx="10341864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Aptos"/>
              </a:rPr>
              <a:t>Architecture can evolve toward secure accounts, notifications, moderation and organisation tools.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27D98"/>
                </a:solidFill>
                <a:latin typeface="Aptos"/>
              </a:rPr>
              <a:t>SafeCircle  •  One community. One circle. Safer together.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27D98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102A43"/>
                </a:solidFill>
                <a:latin typeface="Aptos"/>
              </a:rPr>
              <a:t>Product Status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Aptos"/>
              </a:rPr>
              <a:t>From functional prototype to production-ready safety platform.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342900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764792"/>
            <a:ext cx="30266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87F5B"/>
                </a:solidFill>
                <a:latin typeface="Aptos"/>
              </a:rPr>
              <a:t>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258568"/>
            <a:ext cx="3026664" cy="22128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Aptos"/>
              </a:rPr>
              <a:t>Installable PWA prototype • SOS workflow • contacts • journeys • alerts • location request • offline shell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600200"/>
            <a:ext cx="342900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1728" y="1764792"/>
            <a:ext cx="30266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87F5B"/>
                </a:solidFill>
                <a:latin typeface="Aptos"/>
              </a:rPr>
              <a:t>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1728" y="2258568"/>
            <a:ext cx="3026664" cy="22128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Aptos"/>
              </a:rPr>
              <a:t>Secure accounts • backend • push/SMS notifications • verified community alerts • stronger data protection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600200"/>
            <a:ext cx="342900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76488" y="1764792"/>
            <a:ext cx="30266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87F5B"/>
                </a:solidFill>
                <a:latin typeface="Aptos"/>
              </a:rPr>
              <a:t>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6488" y="2258568"/>
            <a:ext cx="3026664" cy="22128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Aptos"/>
              </a:rPr>
              <a:t>Organisation dashboards • multilingual support • analytics • integrations • broader partnerships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074920"/>
            <a:ext cx="9875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E03131"/>
                </a:solidFill>
                <a:latin typeface="Aptos"/>
              </a:rPr>
              <a:t>Production principle: emergency functionality must be securely tested and integrated with appropriate services before real-world deployment.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27D98"/>
                </a:solidFill>
                <a:latin typeface="Aptos"/>
              </a:rPr>
              <a:t>SafeCircle  •  One community. One circle. Safer together.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27D9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"/>
              </a:rPr>
              <a:t>The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423160"/>
            <a:ext cx="97840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A connected community where people can look out for themselves and for one another.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251960"/>
            <a:ext cx="9052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7DDCBC"/>
                </a:solidFill>
                <a:latin typeface="Aptos"/>
              </a:rPr>
              <a:t>SafeCircle is bigger than an emergency button.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525780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One community. One circle. Safer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27D98"/>
                </a:solidFill>
                <a:latin typeface="Aptos"/>
              </a:rPr>
              <a:t>SafeCircle  •  One community. One circle. Safer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27D98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